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B5501E"/>
                </a:solidFill>
                <a:latin typeface="Calibri"/>
              </a:rPr>
              <a:t>●  </a:t>
            </a:r>
            <a:r>
              <a:rPr sz="1100" b="1" i="0" spc="150">
                <a:solidFill>
                  <a:srgbClr val="7C8591"/>
                </a:solidFill>
                <a:latin typeface="Consolas"/>
              </a:rPr>
              <a:t>IBM BOB AI INNOVATION HACKATHON 2026 · PROBLEM D2 · TRACK: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spc="200">
                <a:solidFill>
                  <a:srgbClr val="1D3A5F"/>
                </a:solidFill>
                <a:latin typeface="Consolas"/>
              </a:rPr>
              <a:t>CASE FILE / AEGIS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14181D"/>
                </a:solidFill>
                <a:latin typeface="Arial"/>
              </a:rPr>
              <a:t>ALERT ENRICHMENT,</a:t>
            </a:r>
          </a:p>
          <a:p>
            <a:r>
              <a:rPr sz="4600" b="1" i="0">
                <a:solidFill>
                  <a:srgbClr val="14181D"/>
                </a:solidFill>
                <a:latin typeface="Arial"/>
              </a:rPr>
              <a:t>GROUPING &amp; INTELLIGENCE</a:t>
            </a:r>
          </a:p>
          <a:p>
            <a:r>
              <a:rPr sz="4600" b="1" i="0">
                <a:solidFill>
                  <a:srgbClr val="14181D"/>
                </a:solidFill>
                <a:latin typeface="Arial"/>
              </a:rPr>
              <a:t>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94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454E58"/>
                </a:solidFill>
                <a:latin typeface="Calibri"/>
              </a:rPr>
              <a:t>Threat-intelligence correlation and consequence-based alert prioritisation — with an evidence trail IBM Bob can be interrogated about, line by line.</a:t>
            </a:r>
          </a:p>
        </p:txBody>
      </p:sp>
      <p:sp>
        <p:nvSpPr>
          <p:cNvPr id="8" name="Rectangle 7"/>
          <p:cNvSpPr/>
          <p:nvPr/>
        </p:nvSpPr>
        <p:spPr>
          <a:xfrm rot="21480000">
            <a:off x="502920" y="4434840"/>
            <a:ext cx="3017520" cy="384048"/>
          </a:xfrm>
          <a:prstGeom prst="rect">
            <a:avLst/>
          </a:prstGeom>
          <a:noFill/>
          <a:ln w="22225">
            <a:solidFill>
              <a:srgbClr val="B55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 spc="100">
                <a:solidFill>
                  <a:srgbClr val="B5501E"/>
                </a:solidFill>
                <a:latin typeface="Consolas"/>
              </a:rPr>
              <a:t>EVIDENCE-BACKED · NOT BLACK BOX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5212080"/>
            <a:ext cx="11201400" cy="0"/>
          </a:xfrm>
          <a:prstGeom prst="line">
            <a:avLst/>
          </a:prstGeom>
          <a:ln w="9525">
            <a:solidFill>
              <a:srgbClr val="D7D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5349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D3A5F"/>
                </a:solidFill>
                <a:latin typeface="Consolas"/>
              </a:rPr>
              <a:t>TEAM BLUE 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623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454E58"/>
                </a:solidFill>
                <a:latin typeface="Calibri"/>
              </a:rPr>
              <a:t>Het Khatusuriya (lead, cybersecurity) · Manan Modi (AI/ML) · Mohammad Safik (frontend) · Samarth Bhalala (backend &amp; data)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07647" y="0"/>
            <a:ext cx="384048" cy="6858000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01</a:t>
            </a:r>
          </a:p>
          <a:p>
            <a:pPr algn="ctr"/>
            <a:r>
              <a:rPr sz="700" b="0" i="0">
                <a:solidFill>
                  <a:srgbClr val="B9C7D6"/>
                </a:solidFill>
                <a:latin typeface="Consolas"/>
              </a:rPr>
              <a:t>OF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B5501E"/>
                </a:solidFill>
                <a:latin typeface="Calibri"/>
              </a:rPr>
              <a:t>●  </a:t>
            </a:r>
            <a:r>
              <a:rPr sz="1100" b="1" i="0" spc="150">
                <a:solidFill>
                  <a:srgbClr val="7C8591"/>
                </a:solidFill>
                <a:latin typeface="Consolas"/>
              </a:rPr>
              <a:t>PROBLEM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4181D"/>
                </a:solidFill>
                <a:latin typeface="Arial"/>
              </a:rPr>
              <a:t>FOUR CONSOLES, FOUR SEVERITY SCALES, ONE 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 spc="40">
                <a:solidFill>
                  <a:srgbClr val="1D3A5F"/>
                </a:solidFill>
                <a:latin typeface="Consolas"/>
              </a:rPr>
              <a:t>VOLUME EXCEEDS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20"/>
            <a:ext cx="5852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454E58"/>
                </a:solidFill>
                <a:latin typeface="Calibri"/>
              </a:rPr>
              <a:t>Thousands of alerts a day across SIEM, network sensors, geospatial feeds and written intelligence. Nobody reads them all — triage collapses into whatever sorts to the top.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2532888"/>
            <a:ext cx="5852160" cy="0"/>
          </a:xfrm>
          <a:prstGeom prst="line">
            <a:avLst/>
          </a:prstGeom>
          <a:ln w="9525">
            <a:solidFill>
              <a:srgbClr val="D7D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2642616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 spc="40">
                <a:solidFill>
                  <a:srgbClr val="1D3A5F"/>
                </a:solidFill>
                <a:latin typeface="Consolas"/>
              </a:rPr>
              <a:t>SEVERITY DOESN'T TRANSLATE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16936"/>
            <a:ext cx="5852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454E58"/>
                </a:solidFill>
                <a:latin typeface="Calibri"/>
              </a:rPr>
              <a:t>The SIEM says critical, the sensor says err, the geo feed says P2, the report says HIGH. None knows the asset, or what else is happening around it.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3575304"/>
            <a:ext cx="5852160" cy="0"/>
          </a:xfrm>
          <a:prstGeom prst="line">
            <a:avLst/>
          </a:prstGeom>
          <a:ln w="9525">
            <a:solidFill>
              <a:srgbClr val="D7D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3685032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 spc="40">
                <a:solidFill>
                  <a:srgbClr val="1D3A5F"/>
                </a:solidFill>
                <a:latin typeface="Consolas"/>
              </a:rPr>
              <a:t>THE COST IS ASYMMETRIC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59352"/>
            <a:ext cx="5852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454E58"/>
                </a:solidFill>
                <a:latin typeface="Calibri"/>
              </a:rPr>
              <a:t>A false positive costs an analyst-hour. A missed intrusion costs the mission. A real intrusion arrives as three unremarkable alerts, in three different consoles.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4617720"/>
            <a:ext cx="5852160" cy="0"/>
          </a:xfrm>
          <a:prstGeom prst="line">
            <a:avLst/>
          </a:prstGeom>
          <a:ln w="9525">
            <a:solidFill>
              <a:srgbClr val="D7D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17-raw-fe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00200"/>
            <a:ext cx="4983480" cy="311467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720840" y="1600200"/>
            <a:ext cx="4983480" cy="3114675"/>
          </a:xfrm>
          <a:prstGeom prst="rect">
            <a:avLst/>
          </a:prstGeom>
          <a:noFill/>
          <a:ln w="12700">
            <a:solidFill>
              <a:srgbClr val="AEB4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4714875"/>
            <a:ext cx="4983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27432" bIns="27432" wrap="square"/>
          <a:lstStyle/>
          <a:p>
            <a:pPr algn="ctr"/>
            <a:r>
              <a:rPr sz="1000" b="0" i="0">
                <a:solidFill>
                  <a:srgbClr val="7C8591"/>
                </a:solidFill>
                <a:latin typeface="Consolas"/>
              </a:rPr>
              <a:t>What the analyst starts the shift with   </a:t>
            </a:r>
            <a:r>
              <a:rPr sz="1000" b="1" i="0">
                <a:solidFill>
                  <a:srgbClr val="1D3A5F"/>
                </a:solidFill>
                <a:latin typeface="Consolas"/>
              </a:rPr>
              <a:t>FIG. 01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00800"/>
            <a:ext cx="11201400" cy="0"/>
          </a:xfrm>
          <a:prstGeom prst="line">
            <a:avLst/>
          </a:prstGeom>
          <a:ln w="9525">
            <a:solidFill>
              <a:srgbClr val="D7D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1D3A5F"/>
                </a:solidFill>
                <a:latin typeface="Consolas"/>
              </a:rPr>
              <a:t>AEGIS</a:t>
            </a:r>
            <a:r>
              <a:rPr sz="1050" b="0" i="0">
                <a:solidFill>
                  <a:srgbClr val="7C8591"/>
                </a:solidFill>
                <a:latin typeface="Consolas"/>
              </a:rPr>
              <a:t> / Blue 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7C8591"/>
                </a:solidFill>
                <a:latin typeface="Consolas"/>
              </a:rPr>
              <a:t>Problem depth &amp; vision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07647" y="0"/>
            <a:ext cx="384048" cy="6858000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none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02</a:t>
            </a:r>
          </a:p>
          <a:p>
            <a:pPr algn="ctr"/>
            <a:r>
              <a:rPr sz="700" b="0" i="0">
                <a:solidFill>
                  <a:srgbClr val="B9C7D6"/>
                </a:solidFill>
                <a:latin typeface="Consolas"/>
              </a:rPr>
              <a:t>OF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B5501E"/>
                </a:solidFill>
                <a:latin typeface="Calibri"/>
              </a:rPr>
              <a:t>●  </a:t>
            </a:r>
            <a:r>
              <a:rPr sz="1100" b="1" i="0" spc="150">
                <a:solidFill>
                  <a:srgbClr val="7C8591"/>
                </a:solidFill>
                <a:latin typeface="Consolas"/>
              </a:rPr>
              <a:t>SOLUTION &amp;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4181D"/>
                </a:solidFill>
                <a:latin typeface="Arial"/>
              </a:rPr>
              <a:t>TRIAGE AS A GRAPH PROBLEM, WITH AN EVIDENCE TRAIL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8013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000" b="1" i="0" spc="60">
                <a:solidFill>
                  <a:srgbClr val="B5501E"/>
                </a:solidFill>
                <a:latin typeface="Consolas"/>
              </a:rPr>
              <a:t>01</a:t>
            </a:r>
          </a:p>
          <a:p>
            <a:r>
              <a:rPr sz="1350" b="1" i="0">
                <a:solidFill>
                  <a:srgbClr val="14181D"/>
                </a:solidFill>
                <a:latin typeface="Arial"/>
              </a:rPr>
              <a:t>FOUR RAW FORMATS</a:t>
            </a:r>
          </a:p>
          <a:p>
            <a:r>
              <a:rPr sz="1050" b="0" i="0">
                <a:solidFill>
                  <a:srgbClr val="7C8591"/>
                </a:solidFill>
                <a:latin typeface="Calibri"/>
              </a:rPr>
              <a:t>SIEM JSON, syslog, geo CSV, intel prose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76272" y="209397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D3A5F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304288" y="1627632"/>
            <a:ext cx="18013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000" b="1" i="0" spc="60">
                <a:solidFill>
                  <a:srgbClr val="B5501E"/>
                </a:solidFill>
                <a:latin typeface="Consolas"/>
              </a:rPr>
              <a:t>02</a:t>
            </a:r>
          </a:p>
          <a:p>
            <a:r>
              <a:rPr sz="1350" b="1" i="0">
                <a:solidFill>
                  <a:srgbClr val="14181D"/>
                </a:solidFill>
                <a:latin typeface="Arial"/>
              </a:rPr>
              <a:t>CANONICAL ALERT</a:t>
            </a:r>
          </a:p>
          <a:p>
            <a:r>
              <a:rPr sz="1050" b="0" i="0">
                <a:solidFill>
                  <a:srgbClr val="7C8591"/>
                </a:solidFill>
                <a:latin typeface="Calibri"/>
              </a:rPr>
              <a:t>IOCs extracted &amp; refanged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40" y="209397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D3A5F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05656" y="1627632"/>
            <a:ext cx="18013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000" b="1" i="0" spc="60">
                <a:solidFill>
                  <a:srgbClr val="B5501E"/>
                </a:solidFill>
                <a:latin typeface="Consolas"/>
              </a:rPr>
              <a:t>03</a:t>
            </a:r>
          </a:p>
          <a:p>
            <a:r>
              <a:rPr sz="1350" b="1" i="0">
                <a:solidFill>
                  <a:srgbClr val="14181D"/>
                </a:solidFill>
                <a:latin typeface="Arial"/>
              </a:rPr>
              <a:t>ATT&amp;CK V19.2</a:t>
            </a:r>
          </a:p>
          <a:p>
            <a:r>
              <a:rPr sz="1050" b="0" i="0">
                <a:solidFill>
                  <a:srgbClr val="7C8591"/>
                </a:solidFill>
                <a:latin typeface="Calibri"/>
              </a:rPr>
              <a:t>TF-IDF + curated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9008" y="209397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D3A5F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07024" y="1627632"/>
            <a:ext cx="18013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000" b="1" i="0" spc="60">
                <a:solidFill>
                  <a:srgbClr val="B5501E"/>
                </a:solidFill>
                <a:latin typeface="Consolas"/>
              </a:rPr>
              <a:t>04</a:t>
            </a:r>
          </a:p>
          <a:p>
            <a:r>
              <a:rPr sz="1350" b="1" i="0">
                <a:solidFill>
                  <a:srgbClr val="14181D"/>
                </a:solidFill>
                <a:latin typeface="Arial"/>
              </a:rPr>
              <a:t>WEIGHTED GRAPH</a:t>
            </a:r>
          </a:p>
          <a:p>
            <a:r>
              <a:rPr sz="1050" b="0" i="0">
                <a:solidFill>
                  <a:srgbClr val="7C8591"/>
                </a:solidFill>
                <a:latin typeface="Calibri"/>
              </a:rPr>
              <a:t>4 signals, evidence on every 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0376" y="209397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D3A5F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8392" y="1627632"/>
            <a:ext cx="18013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000" b="1" i="0" spc="60">
                <a:solidFill>
                  <a:srgbClr val="B5501E"/>
                </a:solidFill>
                <a:latin typeface="Consolas"/>
              </a:rPr>
              <a:t>05</a:t>
            </a:r>
          </a:p>
          <a:p>
            <a:r>
              <a:rPr sz="1350" b="1" i="0">
                <a:solidFill>
                  <a:srgbClr val="14181D"/>
                </a:solidFill>
                <a:latin typeface="Arial"/>
              </a:rPr>
              <a:t>CONSEQUENCE SCORE</a:t>
            </a:r>
          </a:p>
          <a:p>
            <a:r>
              <a:rPr sz="1050" b="0" i="0">
                <a:solidFill>
                  <a:srgbClr val="7C8591"/>
                </a:solidFill>
                <a:latin typeface="Calibri"/>
              </a:rPr>
              <a:t>4 factors, 9 suppression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1744" y="209397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D3A5F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1627632"/>
            <a:ext cx="18013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000" b="1" i="0" spc="60">
                <a:solidFill>
                  <a:srgbClr val="B5501E"/>
                </a:solidFill>
                <a:latin typeface="Consolas"/>
              </a:rPr>
              <a:t>06</a:t>
            </a:r>
          </a:p>
          <a:p>
            <a:r>
              <a:rPr sz="1350" b="1" i="0">
                <a:solidFill>
                  <a:srgbClr val="14181D"/>
                </a:solidFill>
                <a:latin typeface="Arial"/>
              </a:rPr>
              <a:t>BLUF + BOB</a:t>
            </a:r>
          </a:p>
          <a:p>
            <a:r>
              <a:rPr sz="1050" b="0" i="0">
                <a:solidFill>
                  <a:srgbClr val="7C8591"/>
                </a:solidFill>
                <a:latin typeface="Calibri"/>
              </a:rPr>
              <a:t>Commander brief, MCP-queryable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06324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 spc="60">
                <a:solidFill>
                  <a:srgbClr val="1D3A5F"/>
                </a:solidFill>
                <a:latin typeface="Consolas"/>
              </a:rPr>
              <a:t>FOUR CORRELATION SIGNALS PER ALERT PAIR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14181D"/>
                </a:solidFill>
                <a:latin typeface="Calibri"/>
              </a:rPr>
              <a:t>Shared indicator ≤ 0.40 — </a:t>
            </a:r>
            <a:r>
              <a:rPr sz="1350" b="0" i="0">
                <a:solidFill>
                  <a:srgbClr val="454E58"/>
                </a:solidFill>
                <a:latin typeface="Calibri"/>
              </a:rPr>
              <a:t>rarity-weighted (IDF); a shared SHA-256 outweighs a shared DNS server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14181D"/>
                </a:solidFill>
                <a:latin typeface="Calibri"/>
              </a:rPr>
              <a:t>Temporal proximity ≤ 0.20 — </a:t>
            </a:r>
            <a:r>
              <a:rPr sz="1350" b="0" i="0">
                <a:solidFill>
                  <a:srgbClr val="454E58"/>
                </a:solidFill>
                <a:latin typeface="Calibri"/>
              </a:rPr>
              <a:t>exponential decay, no hard cut-off window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14181D"/>
                </a:solidFill>
                <a:latin typeface="Calibri"/>
              </a:rPr>
              <a:t>Asset adjacency ≤ 0.15 — </a:t>
            </a:r>
            <a:r>
              <a:rPr sz="1350" b="0" i="0">
                <a:solidFill>
                  <a:srgbClr val="454E58"/>
                </a:solidFill>
                <a:latin typeface="Calibri"/>
              </a:rPr>
              <a:t>same host, user, subnet, or a named cross-reference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14181D"/>
                </a:solidFill>
                <a:latin typeface="Calibri"/>
              </a:rPr>
              <a:t>Tactic progression ≤ 0.25 — </a:t>
            </a:r>
            <a:r>
              <a:rPr sz="1350" b="0" i="0">
                <a:solidFill>
                  <a:srgbClr val="454E58"/>
                </a:solidFill>
                <a:latin typeface="Calibri"/>
              </a:rPr>
              <a:t>directional: Initial Access → Execution scores, the reverse does not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06324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 spc="60">
                <a:solidFill>
                  <a:srgbClr val="1D3A5F"/>
                </a:solidFill>
                <a:latin typeface="Consolas"/>
              </a:rPr>
              <a:t>WHY IT IS NOT “GROUP BY SOURCE IP”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454E58"/>
                </a:solidFill>
                <a:latin typeface="Calibri"/>
              </a:rPr>
              <a:t>Incidents are connected components above a threshold — the count emerges from evidence, not a chosen k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454E58"/>
                </a:solidFill>
                <a:latin typeface="Calibri"/>
              </a:rPr>
              <a:t>A medium-confidence hit on a domain controller outranks a certain one on a print server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454E58"/>
                </a:solidFill>
                <a:latin typeface="Calibri"/>
              </a:rPr>
              <a:t>Vendor severity is preserved, shown to the analyst — and never scored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00800"/>
            <a:ext cx="11201400" cy="0"/>
          </a:xfrm>
          <a:prstGeom prst="line">
            <a:avLst/>
          </a:prstGeom>
          <a:ln w="9525">
            <a:solidFill>
              <a:srgbClr val="D7D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1D3A5F"/>
                </a:solidFill>
                <a:latin typeface="Consolas"/>
              </a:rPr>
              <a:t>AEGIS</a:t>
            </a:r>
            <a:r>
              <a:rPr sz="1050" b="0" i="0">
                <a:solidFill>
                  <a:srgbClr val="7C8591"/>
                </a:solidFill>
                <a:latin typeface="Consolas"/>
              </a:rPr>
              <a:t> / Blue Vector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46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7C8591"/>
                </a:solidFill>
                <a:latin typeface="Consolas"/>
              </a:rPr>
              <a:t>Solution &amp; innovation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07647" y="0"/>
            <a:ext cx="384048" cy="6858000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none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03</a:t>
            </a:r>
          </a:p>
          <a:p>
            <a:pPr algn="ctr"/>
            <a:r>
              <a:rPr sz="700" b="0" i="0">
                <a:solidFill>
                  <a:srgbClr val="B9C7D6"/>
                </a:solidFill>
                <a:latin typeface="Consolas"/>
              </a:rPr>
              <a:t>OF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B5501E"/>
                </a:solidFill>
                <a:latin typeface="Calibri"/>
              </a:rPr>
              <a:t>●  </a:t>
            </a:r>
            <a:r>
              <a:rPr sz="1100" b="1" i="0" spc="150">
                <a:solidFill>
                  <a:srgbClr val="7C8591"/>
                </a:solidFill>
                <a:latin typeface="Consolas"/>
              </a:rPr>
              <a:t>TECHNICAL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4181D"/>
                </a:solidFill>
                <a:latin typeface="Arial"/>
              </a:rPr>
              <a:t>ONE STATE, TWO SURFACES — THE CONSOLE AND BOB NEVER DISAGREE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 spc="40">
                <a:solidFill>
                  <a:srgbClr val="1D3A5F"/>
                </a:solidFill>
                <a:latin typeface="Consolas"/>
              </a:rPr>
              <a:t>PIPELINE · PYTHON 3.10 · ~3S FOR 521 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2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454E58"/>
                </a:solidFill>
                <a:latin typeface="Calibri"/>
              </a:rPr>
              <a:t>Ingest adapters → SQLite (stdlib, zero servers) → ATT&amp;CK mapper (TF-IDF over the pinned STIX corpus, 697 techniques) → correlation engine (NetworkX) → prioritiser → BLUF generator.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2532888"/>
            <a:ext cx="5577840" cy="0"/>
          </a:xfrm>
          <a:prstGeom prst="line">
            <a:avLst/>
          </a:prstGeom>
          <a:ln w="9525">
            <a:solidFill>
              <a:srgbClr val="D7D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264261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 spc="40">
                <a:solidFill>
                  <a:srgbClr val="1D3A5F"/>
                </a:solidFill>
                <a:latin typeface="Consolas"/>
              </a:rPr>
              <a:t>SERVICE LAYER → FASTAPI + MCP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16936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454E58"/>
                </a:solidFill>
                <a:latin typeface="Calibri"/>
              </a:rPr>
              <a:t>The console and IBM Bob read the same SQLite state through the same service functions. Neither computes anything independently, so they cannot disagree.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3575304"/>
            <a:ext cx="5577840" cy="0"/>
          </a:xfrm>
          <a:prstGeom prst="line">
            <a:avLst/>
          </a:prstGeom>
          <a:ln w="9525">
            <a:solidFill>
              <a:srgbClr val="D7D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368503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 spc="40">
                <a:solidFill>
                  <a:srgbClr val="1D3A5F"/>
                </a:solidFill>
                <a:latin typeface="Consolas"/>
              </a:rPr>
              <a:t>CONSOLE · PLAIN HTML/JS · NO BUILD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59352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454E58"/>
                </a:solidFill>
                <a:latin typeface="Calibri"/>
              </a:rPr>
              <a:t>Force-directed correlation graph on canvas, kill-chain strip, score decomposition, analyst disposition, BLUF panel with one-click export.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4617720"/>
            <a:ext cx="5577840" cy="0"/>
          </a:xfrm>
          <a:prstGeom prst="line">
            <a:avLst/>
          </a:prstGeom>
          <a:ln w="9525">
            <a:solidFill>
              <a:srgbClr val="D7D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04-incident-detail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5349240" cy="334327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355080" y="1600200"/>
            <a:ext cx="5349240" cy="3343275"/>
          </a:xfrm>
          <a:prstGeom prst="rect">
            <a:avLst/>
          </a:prstGeom>
          <a:noFill/>
          <a:ln w="12700">
            <a:solidFill>
              <a:srgbClr val="AEB4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4943475"/>
            <a:ext cx="5349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27432" bIns="27432" wrap="square"/>
          <a:lstStyle/>
          <a:p>
            <a:pPr algn="ctr"/>
            <a:r>
              <a:rPr sz="1000" b="0" i="0">
                <a:solidFill>
                  <a:srgbClr val="7C8591"/>
                </a:solidFill>
                <a:latin typeface="Consolas"/>
              </a:rPr>
              <a:t>INC-014: phishing → PowerShell → C2 → exfiltration   </a:t>
            </a:r>
            <a:r>
              <a:rPr sz="1000" b="1" i="0">
                <a:solidFill>
                  <a:srgbClr val="1D3A5F"/>
                </a:solidFill>
                <a:latin typeface="Consolas"/>
              </a:rPr>
              <a:t>FIG. 02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00800"/>
            <a:ext cx="11201400" cy="0"/>
          </a:xfrm>
          <a:prstGeom prst="line">
            <a:avLst/>
          </a:prstGeom>
          <a:ln w="9525">
            <a:solidFill>
              <a:srgbClr val="D7D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1D3A5F"/>
                </a:solidFill>
                <a:latin typeface="Consolas"/>
              </a:rPr>
              <a:t>AEGIS</a:t>
            </a:r>
            <a:r>
              <a:rPr sz="1050" b="0" i="0">
                <a:solidFill>
                  <a:srgbClr val="7C8591"/>
                </a:solidFill>
                <a:latin typeface="Consolas"/>
              </a:rPr>
              <a:t> / Blue 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7C8591"/>
                </a:solidFill>
                <a:latin typeface="Consolas"/>
              </a:rPr>
              <a:t>Architecture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07647" y="0"/>
            <a:ext cx="384048" cy="6858000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none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04</a:t>
            </a:r>
          </a:p>
          <a:p>
            <a:pPr algn="ctr"/>
            <a:r>
              <a:rPr sz="700" b="0" i="0">
                <a:solidFill>
                  <a:srgbClr val="B9C7D6"/>
                </a:solidFill>
                <a:latin typeface="Consolas"/>
              </a:rPr>
              <a:t>OF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B5501E"/>
                </a:solidFill>
                <a:latin typeface="Calibri"/>
              </a:rPr>
              <a:t>●  </a:t>
            </a:r>
            <a:r>
              <a:rPr sz="1100" b="1" i="0" spc="150">
                <a:solidFill>
                  <a:srgbClr val="7C8591"/>
                </a:solidFill>
                <a:latin typeface="Consolas"/>
              </a:rPr>
              <a:t>WORKING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181D"/>
                </a:solidFill>
                <a:latin typeface="Arial"/>
              </a:rPr>
              <a:t>“THE SIEM MARKED THIS CRITICAL. WHY IS IT RANKED 136TH?”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512064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 i="0">
                <a:solidFill>
                  <a:srgbClr val="B5501E"/>
                </a:solidFill>
                <a:latin typeface="Arial"/>
              </a:rPr>
              <a:t>CRIT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7C8591"/>
                </a:solidFill>
                <a:latin typeface="Calibri"/>
              </a:rPr>
              <a:t>vendor severity, verbatim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6916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D3A5F"/>
                </a:solidFill>
                <a:latin typeface="Arial"/>
              </a:rPr>
              <a:t>136 / 456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7C8591"/>
                </a:solidFill>
                <a:latin typeface="Calibri"/>
              </a:rPr>
              <a:t>AEGIS queue position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2697480"/>
            <a:ext cx="5120640" cy="0"/>
          </a:xfrm>
          <a:prstGeom prst="line">
            <a:avLst/>
          </a:prstGeom>
          <a:ln w="9525">
            <a:solidFill>
              <a:srgbClr val="D7D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88036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 spc="60">
                <a:solidFill>
                  <a:srgbClr val="1D3A5F"/>
                </a:solidFill>
                <a:latin typeface="Consolas"/>
              </a:rPr>
              <a:t>WHAT AEGIS ANSWERS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454E58"/>
                </a:solidFill>
                <a:latin typeface="Calibri"/>
              </a:rPr>
              <a:t>Rule KNOWN_SCANNER_RANGE fired: 12 of 12 alerts are scanning techniques from 10.50.1.10, inside the authorised scanner range, Monday 06:00 UTC — matching the standing schedule.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454E58"/>
                </a:solidFill>
                <a:latin typeface="Calibri"/>
              </a:rPr>
              <a:t>Correlation confidence 0.73, asset criticality 1.00, false-positive likelihood 0.92.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0060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60">
                <a:solidFill>
                  <a:srgbClr val="1D3A5F"/>
                </a:solidFill>
                <a:latin typeface="Consolas"/>
              </a:rPr>
              <a:t>WHAT WOULD CHANGE ITS MIND</a:t>
            </a:r>
          </a:p>
          <a:p>
            <a:r>
              <a:rPr sz="1250" b="0" i="0">
                <a:solidFill>
                  <a:srgbClr val="454E58"/>
                </a:solidFill>
                <a:latin typeface="Calibri"/>
              </a:rPr>
              <a:t>A different source address, a different account, activity outside the window, or any technique beyond scanning. Same answer via IBM Bob's why_deprioritised MCP tool.</a:t>
            </a:r>
          </a:p>
        </p:txBody>
      </p:sp>
      <p:pic>
        <p:nvPicPr>
          <p:cNvPr id="13" name="Picture 12" descr="16-why-deprioritised-clo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00200"/>
            <a:ext cx="5669280" cy="35433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035040" y="1600200"/>
            <a:ext cx="5669280" cy="3543300"/>
          </a:xfrm>
          <a:prstGeom prst="rect">
            <a:avLst/>
          </a:prstGeom>
          <a:noFill/>
          <a:ln w="12700">
            <a:solidFill>
              <a:srgbClr val="AEB4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5143500"/>
            <a:ext cx="5669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27432" bIns="27432" wrap="square"/>
          <a:lstStyle/>
          <a:p>
            <a:pPr algn="ctr"/>
            <a:r>
              <a:rPr sz="1000" b="0" i="0">
                <a:solidFill>
                  <a:srgbClr val="7C8591"/>
                </a:solidFill>
                <a:latin typeface="Consolas"/>
              </a:rPr>
              <a:t>Vendor severity vs. AEGIS, with the rules that explain the gap   </a:t>
            </a:r>
            <a:r>
              <a:rPr sz="1000" b="1" i="0">
                <a:solidFill>
                  <a:srgbClr val="1D3A5F"/>
                </a:solidFill>
                <a:latin typeface="Consolas"/>
              </a:rPr>
              <a:t>FIG. 03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6400800"/>
            <a:ext cx="11201400" cy="0"/>
          </a:xfrm>
          <a:prstGeom prst="line">
            <a:avLst/>
          </a:prstGeom>
          <a:ln w="9525">
            <a:solidFill>
              <a:srgbClr val="D7D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1D3A5F"/>
                </a:solidFill>
                <a:latin typeface="Consolas"/>
              </a:rPr>
              <a:t>AEGIS</a:t>
            </a:r>
            <a:r>
              <a:rPr sz="1050" b="0" i="0">
                <a:solidFill>
                  <a:srgbClr val="7C8591"/>
                </a:solidFill>
                <a:latin typeface="Consolas"/>
              </a:rPr>
              <a:t> / Blue Vector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46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7C8591"/>
                </a:solidFill>
                <a:latin typeface="Consolas"/>
              </a:rPr>
              <a:t>Working demo &amp; functionality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07647" y="0"/>
            <a:ext cx="384048" cy="6858000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none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05</a:t>
            </a:r>
          </a:p>
          <a:p>
            <a:pPr algn="ctr"/>
            <a:r>
              <a:rPr sz="700" b="0" i="0">
                <a:solidFill>
                  <a:srgbClr val="B9C7D6"/>
                </a:solidFill>
                <a:latin typeface="Consolas"/>
              </a:rPr>
              <a:t>OF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B5501E"/>
                </a:solidFill>
                <a:latin typeface="Calibri"/>
              </a:rPr>
              <a:t>●  </a:t>
            </a:r>
            <a:r>
              <a:rPr sz="1100" b="1" i="0" spc="150">
                <a:solidFill>
                  <a:srgbClr val="7C8591"/>
                </a:solidFill>
                <a:latin typeface="Consolas"/>
              </a:rPr>
              <a:t>IBM TECHNOLOGY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4181D"/>
                </a:solidFill>
                <a:latin typeface="Arial"/>
              </a:rPr>
              <a:t>IBM BOB IS THE ANALYST'S INTERFACE — NOT A FOOTNOTE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 spc="50">
                <a:solidFill>
                  <a:srgbClr val="1D3A5F"/>
                </a:solidFill>
                <a:latin typeface="Consolas"/>
              </a:rPr>
              <a:t>SIX READ-ONLY MCP TOOLS · PYTHON MCP SDK, STDIO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20240"/>
          <a:ext cx="6309360" cy="21762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23744"/>
                <a:gridCol w="3785616"/>
              </a:tblGrid>
              <a:tr h="310896">
                <a:tc>
                  <a:txBody>
                    <a:bodyPr tIns="25400" bIns="25400"/>
                    <a:lstStyle/>
                    <a:p>
                      <a:r>
                        <a:rPr sz="950" b="1" i="0" spc="40">
                          <a:solidFill>
                            <a:srgbClr val="7C8591"/>
                          </a:solidFill>
                          <a:latin typeface="Consolas"/>
                        </a:rPr>
                        <a:t>TOOL</a:t>
                      </a:r>
                    </a:p>
                  </a:txBody>
                  <a:tcPr>
                    <a:solidFill>
                      <a:srgbClr val="F6F7F6"/>
                    </a:solidFill>
                  </a:tcPr>
                </a:tc>
                <a:tc>
                  <a:txBody>
                    <a:bodyPr tIns="25400" bIns="25400"/>
                    <a:lstStyle/>
                    <a:p>
                      <a:r>
                        <a:rPr sz="950" b="1" i="0" spc="40">
                          <a:solidFill>
                            <a:srgbClr val="7C8591"/>
                          </a:solidFill>
                          <a:latin typeface="Consolas"/>
                        </a:rPr>
                        <a:t>THE ANALYST ASKS</a:t>
                      </a:r>
                    </a:p>
                  </a:txBody>
                  <a:tcPr>
                    <a:solidFill>
                      <a:srgbClr val="F6F7F6"/>
                    </a:solidFill>
                  </a:tcPr>
                </a:tc>
              </a:tr>
              <a:tr h="310896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get_priority_queue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“What should I look at first this shift?”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explain_correlation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“Why are SIEM-0146 and SYS-0161 the same incident?”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get_bluf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“Give me the BLUF for INC-017.”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why_deprioritised</a:t>
                      </a:r>
                    </a:p>
                  </a:txBody>
                  <a:tcPr>
                    <a:solidFill>
                      <a:srgbClr val="F6E9E1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“Why is critical alert SIEM-0121 ranked so low?”</a:t>
                      </a:r>
                    </a:p>
                  </a:txBody>
                  <a:tcPr>
                    <a:solidFill>
                      <a:srgbClr val="F6E9E1"/>
                    </a:solidFill>
                  </a:tcPr>
                </a:tc>
              </a:tr>
              <a:tr h="310896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search_by_technique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“Show me everything mapped to T1059.”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get_incident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“Walk me through INC-014.”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0" y="15544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 spc="60">
                <a:solidFill>
                  <a:srgbClr val="1D3A5F"/>
                </a:solidFill>
                <a:latin typeface="Consolas"/>
              </a:rPr>
              <a:t>BUILT WITH BOB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454E58"/>
                </a:solidFill>
                <a:latin typeface="Calibri"/>
              </a:rPr>
              <a:t>Used throughout the build: planning module contracts, implementing ingest adapters and correlation signals, driving the terminal for pipeline runs, and the full frontend redesign &amp; feature pass.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2461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 spc="60">
                <a:solidFill>
                  <a:srgbClr val="1D3A5F"/>
                </a:solidFill>
                <a:latin typeface="Consolas"/>
              </a:rPr>
              <a:t>WATSONX.AI GRANITE (OPTIONAL)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454E58"/>
                </a:solidFill>
                <a:latin typeface="Calibri"/>
              </a:rPr>
              <a:t>Rewrites the BLUF narrative from structured evidence under a strict JSON schema. Hallucinated alert IDs are rejected; the template path is what the demo runs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7091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 spc="60">
                <a:solidFill>
                  <a:srgbClr val="1D3A5F"/>
                </a:solidFill>
                <a:latin typeface="Consolas"/>
              </a:rPr>
              <a:t>REMOVE BOB, AND…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454E58"/>
                </a:solidFill>
                <a:latin typeface="Calibri"/>
              </a:rPr>
              <a:t>the analyst loses their conversational interface into the evidence trail — not a summary paragraph bolted on afterward.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6400800"/>
            <a:ext cx="11201400" cy="0"/>
          </a:xfrm>
          <a:prstGeom prst="line">
            <a:avLst/>
          </a:prstGeom>
          <a:ln w="9525">
            <a:solidFill>
              <a:srgbClr val="D7D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1D3A5F"/>
                </a:solidFill>
                <a:latin typeface="Consolas"/>
              </a:rPr>
              <a:t>AEGIS</a:t>
            </a:r>
            <a:r>
              <a:rPr sz="1050" b="0" i="0">
                <a:solidFill>
                  <a:srgbClr val="7C8591"/>
                </a:solidFill>
                <a:latin typeface="Consolas"/>
              </a:rPr>
              <a:t> / Blue 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46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7C8591"/>
                </a:solidFill>
                <a:latin typeface="Consolas"/>
              </a:rPr>
              <a:t>IBM Bob integration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07647" y="0"/>
            <a:ext cx="384048" cy="6858000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none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06</a:t>
            </a:r>
          </a:p>
          <a:p>
            <a:pPr algn="ctr"/>
            <a:r>
              <a:rPr sz="700" b="0" i="0">
                <a:solidFill>
                  <a:srgbClr val="B9C7D6"/>
                </a:solidFill>
                <a:latin typeface="Consolas"/>
              </a:rPr>
              <a:t>OF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B5501E"/>
                </a:solidFill>
                <a:latin typeface="Calibri"/>
              </a:rPr>
              <a:t>●  </a:t>
            </a:r>
            <a:r>
              <a:rPr sz="1100" b="1" i="0" spc="150">
                <a:solidFill>
                  <a:srgbClr val="7C8591"/>
                </a:solidFill>
                <a:latin typeface="Consolas"/>
              </a:rPr>
              <a:t>RESULTS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4181D"/>
                </a:solidFill>
                <a:latin typeface="Arial"/>
              </a:rPr>
              <a:t>MEASURED AGAINST GROUND TRUTH, NOT ASSERTED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7C8591"/>
                </a:solidFill>
                <a:latin typeface="Consolas"/>
              </a:rPr>
              <a:t>521 synthetic alerts · 8 planted scenarios (6 intrusions, 2 look-alike benign) · 466 noise · python -m src.eval.evaluate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36192"/>
          <a:ext cx="11201400" cy="27980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928616"/>
                <a:gridCol w="1120140"/>
                <a:gridCol w="1232154"/>
                <a:gridCol w="1008126"/>
                <a:gridCol w="896112"/>
                <a:gridCol w="2016252"/>
              </a:tblGrid>
              <a:tr h="310896">
                <a:tc>
                  <a:txBody>
                    <a:bodyPr tIns="25400" bIns="25400"/>
                    <a:lstStyle/>
                    <a:p>
                      <a:r>
                        <a:rPr sz="950" b="1" i="0" spc="40">
                          <a:solidFill>
                            <a:srgbClr val="7C8591"/>
                          </a:solidFill>
                          <a:latin typeface="Consolas"/>
                        </a:rPr>
                        <a:t>SCENARIO</a:t>
                      </a:r>
                    </a:p>
                  </a:txBody>
                  <a:tcPr>
                    <a:solidFill>
                      <a:srgbClr val="F6F7F6"/>
                    </a:solidFill>
                  </a:tcPr>
                </a:tc>
                <a:tc>
                  <a:txBody>
                    <a:bodyPr tIns="25400" bIns="25400"/>
                    <a:lstStyle/>
                    <a:p>
                      <a:r>
                        <a:rPr sz="950" b="1" i="0" spc="40">
                          <a:solidFill>
                            <a:srgbClr val="7C8591"/>
                          </a:solidFill>
                          <a:latin typeface="Consolas"/>
                        </a:rPr>
                        <a:t>TRUTH</a:t>
                      </a:r>
                    </a:p>
                  </a:txBody>
                  <a:tcPr>
                    <a:solidFill>
                      <a:srgbClr val="F6F7F6"/>
                    </a:solidFill>
                  </a:tcPr>
                </a:tc>
                <a:tc>
                  <a:txBody>
                    <a:bodyPr tIns="25400" bIns="25400"/>
                    <a:lstStyle/>
                    <a:p>
                      <a:r>
                        <a:rPr sz="950" b="1" i="0" spc="40">
                          <a:solidFill>
                            <a:srgbClr val="7C8591"/>
                          </a:solidFill>
                          <a:latin typeface="Consolas"/>
                        </a:rPr>
                        <a:t>COVERAGE</a:t>
                      </a:r>
                    </a:p>
                  </a:txBody>
                  <a:tcPr>
                    <a:solidFill>
                      <a:srgbClr val="F6F7F6"/>
                    </a:solidFill>
                  </a:tcPr>
                </a:tc>
                <a:tc>
                  <a:txBody>
                    <a:bodyPr tIns="25400" bIns="25400"/>
                    <a:lstStyle/>
                    <a:p>
                      <a:r>
                        <a:rPr sz="950" b="1" i="0" spc="40">
                          <a:solidFill>
                            <a:srgbClr val="7C8591"/>
                          </a:solidFill>
                          <a:latin typeface="Consolas"/>
                        </a:rPr>
                        <a:t>PURITY</a:t>
                      </a:r>
                    </a:p>
                  </a:txBody>
                  <a:tcPr>
                    <a:solidFill>
                      <a:srgbClr val="F6F7F6"/>
                    </a:solidFill>
                  </a:tcPr>
                </a:tc>
                <a:tc>
                  <a:txBody>
                    <a:bodyPr tIns="25400" bIns="25400"/>
                    <a:lstStyle/>
                    <a:p>
                      <a:r>
                        <a:rPr sz="950" b="1" i="0" spc="40">
                          <a:solidFill>
                            <a:srgbClr val="7C8591"/>
                          </a:solidFill>
                          <a:latin typeface="Consolas"/>
                        </a:rPr>
                        <a:t>RANK</a:t>
                      </a:r>
                    </a:p>
                  </a:txBody>
                  <a:tcPr>
                    <a:solidFill>
                      <a:srgbClr val="F6F7F6"/>
                    </a:solidFill>
                  </a:tcPr>
                </a:tc>
                <a:tc>
                  <a:txBody>
                    <a:bodyPr tIns="25400" bIns="25400"/>
                    <a:lstStyle/>
                    <a:p>
                      <a:r>
                        <a:rPr sz="950" b="1" i="0" spc="40">
                          <a:solidFill>
                            <a:srgbClr val="7C8591"/>
                          </a:solidFill>
                          <a:latin typeface="Consolas"/>
                        </a:rPr>
                        <a:t>SUPPRESSION</a:t>
                      </a:r>
                    </a:p>
                  </a:txBody>
                  <a:tcPr>
                    <a:solidFill>
                      <a:srgbClr val="F6F7F6"/>
                    </a:solidFill>
                  </a:tcPr>
                </a:tc>
              </a:tr>
              <a:tr h="310896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Invoice phishing → PowerShell → C2 → DC01 NTDS → exfiltration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intrusion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UAS + RF emitter → rogue AP → OT VLAN → PLC write (SITE-ALPHA)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intrusion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0.86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VPN password spray → account takeover → AD/share enumeration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intrusion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CVE-2023-22518 → web shell → cron → reverse shell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intrusion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Shadow-copy deletion → masquerading → mass encryption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intrusion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Insider staging → personal cloud upload (ambiguous)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intrusion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Sysadmin rollout inside change window</a:t>
                      </a:r>
                    </a:p>
                  </a:txBody>
                  <a:tcPr>
                    <a:solidFill>
                      <a:srgbClr val="F6E9E1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benign</a:t>
                      </a:r>
                    </a:p>
                  </a:txBody>
                  <a:tcPr>
                    <a:solidFill>
                      <a:srgbClr val="F6E9E1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0.75</a:t>
                      </a:r>
                    </a:p>
                  </a:txBody>
                  <a:tcPr>
                    <a:solidFill>
                      <a:srgbClr val="F6E9E1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>
                    <a:solidFill>
                      <a:srgbClr val="F6E9E1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117</a:t>
                      </a:r>
                    </a:p>
                  </a:txBody>
                  <a:tcPr>
                    <a:solidFill>
                      <a:srgbClr val="F6E9E1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MAINTENANCE_WINDOW</a:t>
                      </a:r>
                    </a:p>
                  </a:txBody>
                  <a:tcPr>
                    <a:solidFill>
                      <a:srgbClr val="F6E9E1"/>
                    </a:solidFill>
                  </a:tcPr>
                </a:tc>
              </a:tr>
              <a:tr h="310896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Authorised scan, 8 vendor-CRITICAL alerts</a:t>
                      </a:r>
                    </a:p>
                  </a:txBody>
                  <a:tcPr>
                    <a:solidFill>
                      <a:srgbClr val="F6E9E1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benign</a:t>
                      </a:r>
                    </a:p>
                  </a:txBody>
                  <a:tcPr>
                    <a:solidFill>
                      <a:srgbClr val="F6E9E1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>
                    <a:solidFill>
                      <a:srgbClr val="F6E9E1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>
                    <a:solidFill>
                      <a:srgbClr val="F6E9E1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136</a:t>
                      </a:r>
                    </a:p>
                  </a:txBody>
                  <a:tcPr>
                    <a:solidFill>
                      <a:srgbClr val="F6E9E1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1" i="0">
                          <a:solidFill>
                            <a:srgbClr val="1D3A5F"/>
                          </a:solidFill>
                          <a:latin typeface="Consolas"/>
                        </a:rPr>
                        <a:t>KNOWN_SCANNER_RANGE</a:t>
                      </a:r>
                    </a:p>
                  </a:txBody>
                  <a:tcPr>
                    <a:solidFill>
                      <a:srgbClr val="F6E9E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74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3A5F"/>
                </a:solidFill>
                <a:latin typeface="Arial"/>
              </a:rPr>
              <a:t>6 / 6</a:t>
            </a:r>
          </a:p>
          <a:p>
            <a:r>
              <a:rPr sz="1050" b="0" i="0">
                <a:solidFill>
                  <a:srgbClr val="7C8591"/>
                </a:solidFill>
                <a:latin typeface="Calibri"/>
              </a:rPr>
              <a:t>intrusions in the top 6 of 456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5074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3A5F"/>
                </a:solidFill>
                <a:latin typeface="Arial"/>
              </a:rPr>
              <a:t>2 / 2</a:t>
            </a:r>
          </a:p>
          <a:p>
            <a:r>
              <a:rPr sz="1050" b="0" i="0">
                <a:solidFill>
                  <a:srgbClr val="7C8591"/>
                </a:solidFill>
                <a:latin typeface="Calibri"/>
              </a:rPr>
              <a:t>benign look-alikes below every intrusion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5074920"/>
            <a:ext cx="0" cy="731520"/>
          </a:xfrm>
          <a:prstGeom prst="line">
            <a:avLst/>
          </a:prstGeom>
          <a:ln w="9525">
            <a:solidFill>
              <a:srgbClr val="D7D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80760" y="5074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3A5F"/>
                </a:solidFill>
                <a:latin typeface="Arial"/>
              </a:rPr>
              <a:t>0</a:t>
            </a:r>
          </a:p>
          <a:p>
            <a:r>
              <a:rPr sz="1050" b="0" i="0">
                <a:solidFill>
                  <a:srgbClr val="7C8591"/>
                </a:solidFill>
                <a:latin typeface="Calibri"/>
              </a:rPr>
              <a:t>noise alerts in any planted incident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9320" y="5074920"/>
            <a:ext cx="0" cy="731520"/>
          </a:xfrm>
          <a:prstGeom prst="line">
            <a:avLst/>
          </a:prstGeom>
          <a:ln w="9525">
            <a:solidFill>
              <a:srgbClr val="D7D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869680" y="5074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3A5F"/>
                </a:solidFill>
                <a:latin typeface="Arial"/>
              </a:rPr>
              <a:t>55 / 55</a:t>
            </a:r>
          </a:p>
          <a:p>
            <a:r>
              <a:rPr sz="1050" b="0" i="0">
                <a:solidFill>
                  <a:srgbClr val="7C8591"/>
                </a:solidFill>
                <a:latin typeface="Calibri"/>
              </a:rPr>
              <a:t>planted alerts mapped to ATT&amp;CK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0" y="5074920"/>
            <a:ext cx="0" cy="731520"/>
          </a:xfrm>
          <a:prstGeom prst="line">
            <a:avLst/>
          </a:prstGeom>
          <a:ln w="9525">
            <a:solidFill>
              <a:srgbClr val="D7D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7C8591"/>
                </a:solidFill>
                <a:latin typeface="Calibri"/>
              </a:rPr>
              <a:t>Honest misses: a HUMINT report with no technical indicator, and one geo track linked only by time and place — the cost of refusing to chain on timing alone.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6400800"/>
            <a:ext cx="11201400" cy="0"/>
          </a:xfrm>
          <a:prstGeom prst="line">
            <a:avLst/>
          </a:prstGeom>
          <a:ln w="9525">
            <a:solidFill>
              <a:srgbClr val="D7D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1D3A5F"/>
                </a:solidFill>
                <a:latin typeface="Consolas"/>
              </a:rPr>
              <a:t>AEGIS</a:t>
            </a:r>
            <a:r>
              <a:rPr sz="1050" b="0" i="0">
                <a:solidFill>
                  <a:srgbClr val="7C8591"/>
                </a:solidFill>
                <a:latin typeface="Consolas"/>
              </a:rPr>
              <a:t> / Blue Vector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46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7C8591"/>
                </a:solidFill>
                <a:latin typeface="Consolas"/>
              </a:rPr>
              <a:t>Results &amp; impact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07647" y="0"/>
            <a:ext cx="384048" cy="6858000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none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07</a:t>
            </a:r>
          </a:p>
          <a:p>
            <a:pPr algn="ctr"/>
            <a:r>
              <a:rPr sz="700" b="0" i="0">
                <a:solidFill>
                  <a:srgbClr val="B9C7D6"/>
                </a:solidFill>
                <a:latin typeface="Consolas"/>
              </a:rPr>
              <a:t>OF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B5501E"/>
                </a:solidFill>
                <a:latin typeface="Calibri"/>
              </a:rPr>
              <a:t>●  </a:t>
            </a:r>
            <a:r>
              <a:rPr sz="1100" b="1" i="0" spc="150">
                <a:solidFill>
                  <a:srgbClr val="7C8591"/>
                </a:solidFill>
                <a:latin typeface="Consolas"/>
              </a:rPr>
              <a:t>TEAM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4181D"/>
                </a:solidFill>
                <a:latin typeface="Arial"/>
              </a:rPr>
              <a:t>TEAM BLUE VECTOR — AND WHERE THIS GOES NEXT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6309360" cy="1554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92808"/>
                <a:gridCol w="4416552"/>
              </a:tblGrid>
              <a:tr h="310896">
                <a:tc>
                  <a:txBody>
                    <a:bodyPr tIns="25400" bIns="25400"/>
                    <a:lstStyle/>
                    <a:p>
                      <a:r>
                        <a:rPr sz="950" b="1" i="0" spc="40">
                          <a:solidFill>
                            <a:srgbClr val="7C8591"/>
                          </a:solidFill>
                          <a:latin typeface="Consolas"/>
                        </a:rPr>
                        <a:t>MEMBER</a:t>
                      </a:r>
                    </a:p>
                  </a:txBody>
                  <a:tcPr>
                    <a:solidFill>
                      <a:srgbClr val="F6F7F6"/>
                    </a:solidFill>
                  </a:tcPr>
                </a:tc>
                <a:tc>
                  <a:txBody>
                    <a:bodyPr tIns="25400" bIns="25400"/>
                    <a:lstStyle/>
                    <a:p>
                      <a:r>
                        <a:rPr sz="950" b="1" i="0" spc="40">
                          <a:solidFill>
                            <a:srgbClr val="7C8591"/>
                          </a:solidFill>
                          <a:latin typeface="Consolas"/>
                        </a:rPr>
                        <a:t>BUILT</a:t>
                      </a:r>
                    </a:p>
                  </a:txBody>
                  <a:tcPr>
                    <a:solidFill>
                      <a:srgbClr val="F6F7F6"/>
                    </a:solidFill>
                  </a:tcPr>
                </a:tc>
              </a:tr>
              <a:tr h="310896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Het Khatusuriya (lead)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Corpus &amp; ground truth, IOC extraction, tactic ordering matrix, suppression rules, asset inventory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Manan Modi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ATT&amp;CK mapping, correlation graph &amp; signal weights, BLUF generation, evaluation harness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Mohammad Safik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Analyst console: queue, correlation graph, kill-chain view, disposition &amp; BLUF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Samarth Bhalala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454E58"/>
                          </a:solidFill>
                          <a:latin typeface="Calibri"/>
                        </a:rPr>
                        <a:t>Canonical schema, four ingest adapters, SQLite store, FastAPI, MCP server for Bob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0" y="160020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 spc="60">
                <a:solidFill>
                  <a:srgbClr val="1D3A5F"/>
                </a:solidFill>
                <a:latin typeface="Consolas"/>
              </a:rPr>
              <a:t>BEYOND THE HACKATHON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454E58"/>
                </a:solidFill>
                <a:latin typeface="Calibri"/>
              </a:rPr>
              <a:t>Streaming ingestion with incremental graph updates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454E58"/>
                </a:solidFill>
                <a:latin typeface="Calibri"/>
              </a:rPr>
              <a:t>Suppression knowledge sourced from the CMDB, not code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454E58"/>
                </a:solidFill>
                <a:latin typeface="Calibri"/>
              </a:rPr>
              <a:t>Analyst disposition (TP/FP) already ships — next: feed it into per-enclave signal recalibration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454E58"/>
                </a:solidFill>
                <a:latin typeface="Calibri"/>
              </a:rPr>
              <a:t>Bob as the first-line triage assistant on the watch floor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32320" y="4114800"/>
            <a:ext cx="4572000" cy="0"/>
          </a:xfrm>
          <a:prstGeom prst="line">
            <a:avLst/>
          </a:prstGeom>
          <a:ln w="9525">
            <a:solidFill>
              <a:srgbClr val="D7D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0" y="42519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D3A5F"/>
                </a:solidFill>
                <a:latin typeface="Consolas"/>
              </a:rPr>
              <a:t>github.com/shafik-shaikh/bob-ai-hackathon-blue-vector</a:t>
            </a:r>
          </a:p>
          <a:p>
            <a:r>
              <a:rPr sz="1200" b="0" i="0">
                <a:solidFill>
                  <a:srgbClr val="7C8591"/>
                </a:solidFill>
                <a:latin typeface="Consolas"/>
              </a:rPr>
              <a:t>python scripts/demo.py → http://localhost:8000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00800"/>
            <a:ext cx="11201400" cy="0"/>
          </a:xfrm>
          <a:prstGeom prst="line">
            <a:avLst/>
          </a:prstGeom>
          <a:ln w="9525">
            <a:solidFill>
              <a:srgbClr val="D7D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1D3A5F"/>
                </a:solidFill>
                <a:latin typeface="Consolas"/>
              </a:rPr>
              <a:t>AEGIS</a:t>
            </a:r>
            <a:r>
              <a:rPr sz="1050" b="0" i="0">
                <a:solidFill>
                  <a:srgbClr val="7C8591"/>
                </a:solidFill>
                <a:latin typeface="Consolas"/>
              </a:rPr>
              <a:t> / Blue 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46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7C8591"/>
                </a:solidFill>
                <a:latin typeface="Consolas"/>
              </a:rPr>
              <a:t>Team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07647" y="0"/>
            <a:ext cx="384048" cy="6858000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none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08</a:t>
            </a:r>
          </a:p>
          <a:p>
            <a:pPr algn="ctr"/>
            <a:r>
              <a:rPr sz="700" b="0" i="0">
                <a:solidFill>
                  <a:srgbClr val="B9C7D6"/>
                </a:solidFill>
                <a:latin typeface="Consolas"/>
              </a:rPr>
              <a:t>OF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